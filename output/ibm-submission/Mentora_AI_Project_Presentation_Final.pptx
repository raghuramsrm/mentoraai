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 illustration generated for this presentation. Project framing follows the IBM SkillsBuild Masterclass 5 project discussion and guidelines supplied by the 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IBM SkillsBuild Masterclass 5 PDF, pages 8 and 11. No external statistics are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journey reflects the implemented application flow and the solution categories listed on page 14 of the supplied IBM SkillsBuild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current Mentora AI implementation and automated test suite. The status wording distinguishes complete MVP functions from intentionally limited delivery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 reflects the implemented React, FastAPI, SQLAlchemy, ChromaDB, and provider-adapter design. The agent roles follow page 14 of the supplied IBM SkillsBuild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current Mentora AI backend behavior and tests for assessment history, roadmap progression, adaptive quiz difficulty, and user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Condensed from the full Lean Canvas delivered with this submission. Categories follow the IBM SkillsBuild Masterclass 5 example, pages 11 to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Verification results recorded on 7 October 2026 in the local project workspace. The live OpenAI provider was not tested because no API key was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metric categories reflect page 18 of the supplied IBM SkillsBuild PDF. Boundaries reflect the current implementation and prevent unsupported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recommendation based on the current MVP status. Production deployment and external integrations remain separate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74F076-1C7D-4DCE-B161-E34B1890DD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572250" cy="6858000"/>
          </a:xfrm>
          <a:prstGeom prst="rect">
            <a:avLst/>
          </a:prstGeom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3BB4DF-D2D0-41FD-AB0A-E32426113B0A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MENTORA 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5A95E2-617D-47F1-8911-B892264A5918}"/>
              </a:ext>
            </a:extLst>
          </p:cNvPr>
          <p:cNvSpPr>
            <a:spLocks noGrp="1"/>
          </p:cNvSpPr>
          <p:nvPr/>
        </p:nvSpPr>
        <p:spPr>
          <a:xfrm>
            <a:off x="714375" y="2219325"/>
            <a:ext cx="47625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 learning and career guidance for students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9A799C-71C5-4661-9880-3DC6D7670E5A}"/>
              </a:ext>
            </a:extLst>
          </p:cNvPr>
          <p:cNvSpPr>
            <a:spLocks noGrp="1"/>
          </p:cNvSpPr>
          <p:nvPr/>
        </p:nvSpPr>
        <p:spPr>
          <a:xfrm>
            <a:off x="685800" y="3000375"/>
            <a:ext cx="46672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E6ECFF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E6ECFF"/>
                </a:solidFill>
                <a:latin typeface="Aptos"/>
                <a:ea typeface="Aptos"/>
                <a:cs typeface="Aptos"/>
              </a:rPr>
              <a:t>IBM </a:t>
            </a:r>
            <a:r>
              <a:rPr sz="1350" b="0" dirty="0" err="1">
                <a:solidFill>
                  <a:srgbClr val="E6ECFF"/>
                </a:solidFill>
                <a:latin typeface="Aptos"/>
                <a:ea typeface="Aptos"/>
                <a:cs typeface="Aptos"/>
              </a:rPr>
              <a:t>SkillsBuild</a:t>
            </a:r>
            <a:r>
              <a:rPr sz="1350" b="0" dirty="0">
                <a:solidFill>
                  <a:srgbClr val="E6ECFF"/>
                </a:solidFill>
                <a:latin typeface="Aptos"/>
                <a:ea typeface="Aptos"/>
                <a:cs typeface="Aptos"/>
              </a:rPr>
              <a:t> for Academia internship project</a:t>
            </a:r>
          </a:p>
          <a:p>
            <a:pPr algn="l">
              <a:defRPr sz="1350" b="0">
                <a:solidFill>
                  <a:srgbClr val="E6ECFF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E6ECFF"/>
                </a:solidFill>
                <a:latin typeface="Aptos"/>
                <a:ea typeface="Aptos"/>
                <a:cs typeface="Aptos"/>
              </a:rPr>
              <a:t>SDG 4 Quality Education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4CED22-CE48-4E6C-B23F-807635C86EBE}"/>
              </a:ext>
            </a:extLst>
          </p:cNvPr>
          <p:cNvSpPr>
            <a:spLocks noGrp="1"/>
          </p:cNvSpPr>
          <p:nvPr/>
        </p:nvSpPr>
        <p:spPr>
          <a:xfrm>
            <a:off x="723900" y="552450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FD4FF"/>
                </a:solidFill>
                <a:latin typeface="Aptos"/>
                <a:ea typeface="Aptos"/>
                <a:cs typeface="Aptos"/>
              </a:rPr>
              <a:t>Working web MVP</a:t>
            </a:r>
          </a:p>
        </p:txBody>
      </p:sp>
    </p:spTree>
    <p:extLst>
      <p:ext uri="{BB962C8B-B14F-4D97-AF65-F5344CB8AC3E}">
        <p14:creationId xmlns:p14="http://schemas.microsoft.com/office/powerpoint/2010/main" val="1426544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D5A8EF2-B481-4E52-8564-AA068A69F71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The student learning gap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483215-0900-4E4D-A54E-B26C37510D8A}"/>
              </a:ext>
            </a:extLst>
          </p:cNvPr>
          <p:cNvSpPr>
            <a:spLocks noGrp="1"/>
          </p:cNvSpPr>
          <p:nvPr/>
        </p:nvSpPr>
        <p:spPr>
          <a:xfrm>
            <a:off x="628650" y="10287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Students can access content but still lack a coherent path and persistent guidance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25B1CC-14B7-4AB3-8AE2-A8705DF7655A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781050" cy="47625"/>
          </a:xfrm>
          <a:prstGeom prst="rect">
            <a:avLst/>
          </a:prstGeom>
          <a:solidFill>
            <a:srgbClr val="0F62F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92E77-1591-47C6-BA47-213E43CD955D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Learning today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EB414A-7124-43DF-80AB-3BA879EAB407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60960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41300" indent="-114300">
              <a:spcAft>
                <a:spcPts val="1200"/>
              </a:spcAft>
              <a:buChar char="•"/>
              <a:defRPr sz="180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82033"/>
                </a:solidFill>
                <a:latin typeface="Aptos"/>
                <a:ea typeface="Aptos"/>
                <a:cs typeface="Aptos"/>
              </a:rPr>
              <a:t>Resources are scattered across course platforms, videos, search, and chat tools.</a:t>
            </a:r>
          </a:p>
          <a:p>
            <a:pPr marL="241300" indent="-114300">
              <a:spcAft>
                <a:spcPts val="1200"/>
              </a:spcAft>
              <a:buChar char="•"/>
              <a:defRPr sz="180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82033"/>
                </a:solidFill>
                <a:latin typeface="Aptos"/>
                <a:ea typeface="Aptos"/>
                <a:cs typeface="Aptos"/>
              </a:rPr>
              <a:t>Static courses rarely adapt to a student's career goal or changing performance.</a:t>
            </a:r>
          </a:p>
          <a:p>
            <a:pPr marL="241300" indent="-114300">
              <a:spcAft>
                <a:spcPts val="1200"/>
              </a:spcAft>
              <a:buChar char="•"/>
              <a:defRPr sz="180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82033"/>
                </a:solidFill>
                <a:latin typeface="Aptos"/>
                <a:ea typeface="Aptos"/>
                <a:cs typeface="Aptos"/>
              </a:rPr>
              <a:t>Weak topics, project evidence, and career preparation remain disconnected.</a:t>
            </a:r>
          </a:p>
          <a:p>
            <a:pPr marL="241300" indent="-114300">
              <a:spcAft>
                <a:spcPts val="1200"/>
              </a:spcAft>
              <a:buChar char="•"/>
              <a:defRPr sz="180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82033"/>
                </a:solidFill>
                <a:latin typeface="Aptos"/>
                <a:ea typeface="Aptos"/>
                <a:cs typeface="Aptos"/>
              </a:rPr>
              <a:t>Rapid AI change makes learning material age quickly.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75B1D1-1F86-4B8B-986B-9FACE650D1E0}"/>
              </a:ext>
            </a:extLst>
          </p:cNvPr>
          <p:cNvSpPr>
            <a:spLocks noGrp="1"/>
          </p:cNvSpPr>
          <p:nvPr/>
        </p:nvSpPr>
        <p:spPr>
          <a:xfrm>
            <a:off x="7667625" y="1952625"/>
            <a:ext cx="76200" cy="3429000"/>
          </a:xfrm>
          <a:prstGeom prst="rect">
            <a:avLst/>
          </a:prstGeom>
          <a:solidFill>
            <a:srgbClr val="007D79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74D0F9-9918-4870-9BA9-D5690EC652E9}"/>
              </a:ext>
            </a:extLst>
          </p:cNvPr>
          <p:cNvSpPr>
            <a:spLocks noGrp="1"/>
          </p:cNvSpPr>
          <p:nvPr/>
        </p:nvSpPr>
        <p:spPr>
          <a:xfrm>
            <a:off x="8096250" y="20193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Design question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F2C59-2FBF-4C1D-BB10-347BB466A598}"/>
              </a:ext>
            </a:extLst>
          </p:cNvPr>
          <p:cNvSpPr>
            <a:spLocks noGrp="1"/>
          </p:cNvSpPr>
          <p:nvPr/>
        </p:nvSpPr>
        <p:spPr>
          <a:xfrm>
            <a:off x="8096250" y="2533650"/>
            <a:ext cx="3048000" cy="2095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How can one system learn from each student's evidence and guide the next useful action?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4DCD4B-1218-458B-A742-F72132266370}"/>
              </a:ext>
            </a:extLst>
          </p:cNvPr>
          <p:cNvSpPr>
            <a:spLocks noGrp="1"/>
          </p:cNvSpPr>
          <p:nvPr/>
        </p:nvSpPr>
        <p:spPr>
          <a:xfrm>
            <a:off x="8096250" y="4810125"/>
            <a:ext cx="30480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SDG 4 focuses the project on relevant, effective learning rather than content volume alone.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6359FF-2FF6-4CDA-ACC9-F8B96D00ED4E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FD165F-F3F1-4A0D-9E2D-D3EE4A97ED83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9283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4E5B809-DDAF-433B-8795-46CCB2A45B6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The Mentora learner journey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3E734E-B8B3-44C7-B248-5025A506608E}"/>
              </a:ext>
            </a:extLst>
          </p:cNvPr>
          <p:cNvSpPr>
            <a:spLocks noGrp="1"/>
          </p:cNvSpPr>
          <p:nvPr/>
        </p:nvSpPr>
        <p:spPr>
          <a:xfrm>
            <a:off x="628650" y="10287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A single evidence trail connects goals, learning, practice, and career preparation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D435FD-8857-4EAE-B877-7E445CAEBC5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781050" cy="47625"/>
          </a:xfrm>
          <a:prstGeom prst="rect">
            <a:avLst/>
          </a:prstGeom>
          <a:solidFill>
            <a:srgbClr val="0F62F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531F1C-26C0-42A4-B0DE-9D8D015201FE}"/>
              </a:ext>
            </a:extLst>
          </p:cNvPr>
          <p:cNvSpPr>
            <a:spLocks noGrp="1"/>
          </p:cNvSpPr>
          <p:nvPr/>
        </p:nvSpPr>
        <p:spPr>
          <a:xfrm>
            <a:off x="619125" y="204787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007D7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7D7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B8E9A8-784F-42A6-9D08-AAC25456E266}"/>
              </a:ext>
            </a:extLst>
          </p:cNvPr>
          <p:cNvSpPr>
            <a:spLocks noGrp="1"/>
          </p:cNvSpPr>
          <p:nvPr/>
        </p:nvSpPr>
        <p:spPr>
          <a:xfrm>
            <a:off x="619125" y="2628900"/>
            <a:ext cx="18288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0024EF-4F50-433F-B107-5DEADB7352EF}"/>
              </a:ext>
            </a:extLst>
          </p:cNvPr>
          <p:cNvSpPr>
            <a:spLocks noGrp="1"/>
          </p:cNvSpPr>
          <p:nvPr/>
        </p:nvSpPr>
        <p:spPr>
          <a:xfrm>
            <a:off x="619125" y="3143250"/>
            <a:ext cx="1790700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Goal, skills, experience, study time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FE6748-484B-4103-980A-62ABEBA10408}"/>
              </a:ext>
            </a:extLst>
          </p:cNvPr>
          <p:cNvSpPr>
            <a:spLocks noGrp="1"/>
          </p:cNvSpPr>
          <p:nvPr/>
        </p:nvSpPr>
        <p:spPr>
          <a:xfrm>
            <a:off x="2390775" y="2200275"/>
            <a:ext cx="361950" cy="28575"/>
          </a:xfrm>
          <a:prstGeom prst="rect">
            <a:avLst/>
          </a:prstGeom>
          <a:solidFill>
            <a:srgbClr val="C8D4EA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BA9F07-09A1-4DA0-A8F8-832D7504B5FD}"/>
              </a:ext>
            </a:extLst>
          </p:cNvPr>
          <p:cNvSpPr>
            <a:spLocks noGrp="1"/>
          </p:cNvSpPr>
          <p:nvPr/>
        </p:nvSpPr>
        <p:spPr>
          <a:xfrm>
            <a:off x="2886075" y="204787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E984BA-400B-4F08-A431-1C7D948E835F}"/>
              </a:ext>
            </a:extLst>
          </p:cNvPr>
          <p:cNvSpPr>
            <a:spLocks noGrp="1"/>
          </p:cNvSpPr>
          <p:nvPr/>
        </p:nvSpPr>
        <p:spPr>
          <a:xfrm>
            <a:off x="2886075" y="2628900"/>
            <a:ext cx="18288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Assess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B8E504-C163-4AFF-A57F-253C63081E91}"/>
              </a:ext>
            </a:extLst>
          </p:cNvPr>
          <p:cNvSpPr>
            <a:spLocks noGrp="1"/>
          </p:cNvSpPr>
          <p:nvPr/>
        </p:nvSpPr>
        <p:spPr>
          <a:xfrm>
            <a:off x="2886075" y="3143250"/>
            <a:ext cx="1790700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Topic scores and weak areas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9FC43-D78B-47BA-9DA5-74B3C784BCFF}"/>
              </a:ext>
            </a:extLst>
          </p:cNvPr>
          <p:cNvSpPr>
            <a:spLocks noGrp="1"/>
          </p:cNvSpPr>
          <p:nvPr/>
        </p:nvSpPr>
        <p:spPr>
          <a:xfrm>
            <a:off x="4657725" y="2200275"/>
            <a:ext cx="361950" cy="28575"/>
          </a:xfrm>
          <a:prstGeom prst="rect">
            <a:avLst/>
          </a:prstGeom>
          <a:solidFill>
            <a:srgbClr val="C8D4EA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CF47DF-DF53-4614-8C3C-A75472AC0D20}"/>
              </a:ext>
            </a:extLst>
          </p:cNvPr>
          <p:cNvSpPr>
            <a:spLocks noGrp="1"/>
          </p:cNvSpPr>
          <p:nvPr/>
        </p:nvSpPr>
        <p:spPr>
          <a:xfrm>
            <a:off x="5153025" y="204787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267FD3-5137-4A77-9DA4-C2B8969EA668}"/>
              </a:ext>
            </a:extLst>
          </p:cNvPr>
          <p:cNvSpPr>
            <a:spLocks noGrp="1"/>
          </p:cNvSpPr>
          <p:nvPr/>
        </p:nvSpPr>
        <p:spPr>
          <a:xfrm>
            <a:off x="5153025" y="2628900"/>
            <a:ext cx="18288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Roadmap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D8F16B-BB88-4383-AFE2-B6D7BDFA222E}"/>
              </a:ext>
            </a:extLst>
          </p:cNvPr>
          <p:cNvSpPr>
            <a:spLocks noGrp="1"/>
          </p:cNvSpPr>
          <p:nvPr/>
        </p:nvSpPr>
        <p:spPr>
          <a:xfrm>
            <a:off x="5153025" y="3143250"/>
            <a:ext cx="1790700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Ordered modules and unlocking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BA89ED-37C5-44E3-B7BD-9A87D619AA65}"/>
              </a:ext>
            </a:extLst>
          </p:cNvPr>
          <p:cNvSpPr>
            <a:spLocks noGrp="1"/>
          </p:cNvSpPr>
          <p:nvPr/>
        </p:nvSpPr>
        <p:spPr>
          <a:xfrm>
            <a:off x="6924675" y="2200275"/>
            <a:ext cx="361950" cy="28575"/>
          </a:xfrm>
          <a:prstGeom prst="rect">
            <a:avLst/>
          </a:prstGeom>
          <a:solidFill>
            <a:srgbClr val="C8D4EA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206B8B-0D8E-480F-91FB-06596DAE6F5D}"/>
              </a:ext>
            </a:extLst>
          </p:cNvPr>
          <p:cNvSpPr>
            <a:spLocks noGrp="1"/>
          </p:cNvSpPr>
          <p:nvPr/>
        </p:nvSpPr>
        <p:spPr>
          <a:xfrm>
            <a:off x="7419975" y="204787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BEDD03-D9AE-40F9-8990-BA9EAB558DAB}"/>
              </a:ext>
            </a:extLst>
          </p:cNvPr>
          <p:cNvSpPr>
            <a:spLocks noGrp="1"/>
          </p:cNvSpPr>
          <p:nvPr/>
        </p:nvSpPr>
        <p:spPr>
          <a:xfrm>
            <a:off x="7419975" y="2628900"/>
            <a:ext cx="18288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Learn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906BB2-1238-4D54-AA6E-4BB7063674E3}"/>
              </a:ext>
            </a:extLst>
          </p:cNvPr>
          <p:cNvSpPr>
            <a:spLocks noGrp="1"/>
          </p:cNvSpPr>
          <p:nvPr/>
        </p:nvSpPr>
        <p:spPr>
          <a:xfrm>
            <a:off x="7419975" y="3143250"/>
            <a:ext cx="1790700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Grounded mentor and adaptive quizzes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CEE6AE-762A-4935-82A2-1CEA4F90BDEE}"/>
              </a:ext>
            </a:extLst>
          </p:cNvPr>
          <p:cNvSpPr>
            <a:spLocks noGrp="1"/>
          </p:cNvSpPr>
          <p:nvPr/>
        </p:nvSpPr>
        <p:spPr>
          <a:xfrm>
            <a:off x="9191625" y="2200275"/>
            <a:ext cx="361950" cy="28575"/>
          </a:xfrm>
          <a:prstGeom prst="rect">
            <a:avLst/>
          </a:prstGeom>
          <a:solidFill>
            <a:srgbClr val="C8D4EA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43777F-0111-4336-A81A-5C98B701EA76}"/>
              </a:ext>
            </a:extLst>
          </p:cNvPr>
          <p:cNvSpPr>
            <a:spLocks noGrp="1"/>
          </p:cNvSpPr>
          <p:nvPr/>
        </p:nvSpPr>
        <p:spPr>
          <a:xfrm>
            <a:off x="9686925" y="204787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F2521A-E2CE-4701-883F-81A42F1E87F7}"/>
              </a:ext>
            </a:extLst>
          </p:cNvPr>
          <p:cNvSpPr>
            <a:spLocks noGrp="1"/>
          </p:cNvSpPr>
          <p:nvPr/>
        </p:nvSpPr>
        <p:spPr>
          <a:xfrm>
            <a:off x="9686925" y="2628900"/>
            <a:ext cx="18288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732B6E-0CAE-4EBB-B7D8-31026937D52D}"/>
              </a:ext>
            </a:extLst>
          </p:cNvPr>
          <p:cNvSpPr>
            <a:spLocks noGrp="1"/>
          </p:cNvSpPr>
          <p:nvPr/>
        </p:nvSpPr>
        <p:spPr>
          <a:xfrm>
            <a:off x="9686925" y="3143250"/>
            <a:ext cx="1790700" cy="1009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Projects, career gaps, progress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CBB671-DDFB-44A6-B0FB-9A50EDBBADC4}"/>
              </a:ext>
            </a:extLst>
          </p:cNvPr>
          <p:cNvSpPr>
            <a:spLocks noGrp="1"/>
          </p:cNvSpPr>
          <p:nvPr/>
        </p:nvSpPr>
        <p:spPr>
          <a:xfrm>
            <a:off x="619125" y="4667250"/>
            <a:ext cx="10572750" cy="9525"/>
          </a:xfrm>
          <a:prstGeom prst="rect">
            <a:avLst/>
          </a:prstGeom>
          <a:solidFill>
            <a:srgbClr val="C8D4EA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31CA06-B353-46CA-87E7-8C6CDCA75961}"/>
              </a:ext>
            </a:extLst>
          </p:cNvPr>
          <p:cNvSpPr>
            <a:spLocks noGrp="1"/>
          </p:cNvSpPr>
          <p:nvPr/>
        </p:nvSpPr>
        <p:spPr>
          <a:xfrm>
            <a:off x="1714500" y="5048250"/>
            <a:ext cx="87630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033"/>
                </a:solidFill>
                <a:latin typeface="Aptos"/>
                <a:ea typeface="Aptos"/>
                <a:cs typeface="Aptos"/>
              </a:rPr>
              <a:t>Every completed activity updates the learner record used by the dashboard, roadmap, quizzes, and career analysis.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D525F-6B86-47C3-81AB-21622F2F5F5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2BE742-7E59-496C-A46E-2450D2C40DF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06232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E87F052-52F6-4C10-B21D-6066E9FBB76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Implemented MVP capabilities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373B2A-B58E-43EC-A4B9-458B35DE151C}"/>
              </a:ext>
            </a:extLst>
          </p:cNvPr>
          <p:cNvSpPr>
            <a:spLocks noGrp="1"/>
          </p:cNvSpPr>
          <p:nvPr/>
        </p:nvSpPr>
        <p:spPr>
          <a:xfrm>
            <a:off x="628650" y="10287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The submission demonstrates a working product rather than a concept-only mock-up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3D5B9B-6695-42DF-94F8-A8A22C256544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781050" cy="47625"/>
          </a:xfrm>
          <a:prstGeom prst="rect">
            <a:avLst/>
          </a:prstGeom>
          <a:solidFill>
            <a:srgbClr val="0F62F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8D7F53-9DC9-4A7F-A09E-3A72D830AE68}"/>
              </a:ext>
            </a:extLst>
          </p:cNvPr>
          <p:cNvSpPr>
            <a:spLocks noGrp="1"/>
          </p:cNvSpPr>
          <p:nvPr/>
        </p:nvSpPr>
        <p:spPr>
          <a:xfrm>
            <a:off x="704850" y="18669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FBC6F2-F0AD-4BF3-A08E-BC604CD97C9A}"/>
              </a:ext>
            </a:extLst>
          </p:cNvPr>
          <p:cNvSpPr>
            <a:spLocks noGrp="1"/>
          </p:cNvSpPr>
          <p:nvPr/>
        </p:nvSpPr>
        <p:spPr>
          <a:xfrm>
            <a:off x="3238500" y="1866900"/>
            <a:ext cx="590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What the learner receives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66E302-99F6-492D-AB1A-7B55D8D98530}"/>
              </a:ext>
            </a:extLst>
          </p:cNvPr>
          <p:cNvSpPr>
            <a:spLocks noGrp="1"/>
          </p:cNvSpPr>
          <p:nvPr/>
        </p:nvSpPr>
        <p:spPr>
          <a:xfrm>
            <a:off x="9620250" y="1866900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4A2259-6A4C-4714-B960-FC3A6EDFA98B}"/>
              </a:ext>
            </a:extLst>
          </p:cNvPr>
          <p:cNvSpPr>
            <a:spLocks noGrp="1"/>
          </p:cNvSpPr>
          <p:nvPr/>
        </p:nvSpPr>
        <p:spPr>
          <a:xfrm>
            <a:off x="590550" y="2190750"/>
            <a:ext cx="10906125" cy="552450"/>
          </a:xfrm>
          <a:prstGeom prst="rect">
            <a:avLst/>
          </a:prstGeom>
          <a:solidFill>
            <a:srgbClr val="F7F9FD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3401E-DD43-4EB1-B3AF-0B5A296A9E99}"/>
              </a:ext>
            </a:extLst>
          </p:cNvPr>
          <p:cNvSpPr>
            <a:spLocks noGrp="1"/>
          </p:cNvSpPr>
          <p:nvPr/>
        </p:nvSpPr>
        <p:spPr>
          <a:xfrm>
            <a:off x="704850" y="226695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Personalized learning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B9F01A-0983-4260-A66E-1726C10162BE}"/>
              </a:ext>
            </a:extLst>
          </p:cNvPr>
          <p:cNvSpPr>
            <a:spLocks noGrp="1"/>
          </p:cNvSpPr>
          <p:nvPr/>
        </p:nvSpPr>
        <p:spPr>
          <a:xfrm>
            <a:off x="3238500" y="2266950"/>
            <a:ext cx="604837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Career-aware assessment and sequenced roadmap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995365-73A8-4385-8BC4-F419A8877FE0}"/>
              </a:ext>
            </a:extLst>
          </p:cNvPr>
          <p:cNvSpPr>
            <a:spLocks noGrp="1"/>
          </p:cNvSpPr>
          <p:nvPr/>
        </p:nvSpPr>
        <p:spPr>
          <a:xfrm>
            <a:off x="9620250" y="226695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803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1080D8-24A3-47BE-BDD9-208B1011FB59}"/>
              </a:ext>
            </a:extLst>
          </p:cNvPr>
          <p:cNvSpPr>
            <a:spLocks noGrp="1"/>
          </p:cNvSpPr>
          <p:nvPr/>
        </p:nvSpPr>
        <p:spPr>
          <a:xfrm>
            <a:off x="704850" y="289560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AI tutor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B18407-AC39-4BA3-8EDF-F6C26A8BA21D}"/>
              </a:ext>
            </a:extLst>
          </p:cNvPr>
          <p:cNvSpPr>
            <a:spLocks noGrp="1"/>
          </p:cNvSpPr>
          <p:nvPr/>
        </p:nvSpPr>
        <p:spPr>
          <a:xfrm>
            <a:off x="3238500" y="2895600"/>
            <a:ext cx="604837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Intent routing, learner context, and grounded local sources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1216DE-DE2E-437C-9635-C1390A1D945B}"/>
              </a:ext>
            </a:extLst>
          </p:cNvPr>
          <p:cNvSpPr>
            <a:spLocks noGrp="1"/>
          </p:cNvSpPr>
          <p:nvPr/>
        </p:nvSpPr>
        <p:spPr>
          <a:xfrm>
            <a:off x="9620250" y="28956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803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0C1822-C09F-44BC-862E-80E3995AADF1}"/>
              </a:ext>
            </a:extLst>
          </p:cNvPr>
          <p:cNvSpPr>
            <a:spLocks noGrp="1"/>
          </p:cNvSpPr>
          <p:nvPr/>
        </p:nvSpPr>
        <p:spPr>
          <a:xfrm>
            <a:off x="590550" y="3448050"/>
            <a:ext cx="10906125" cy="552450"/>
          </a:xfrm>
          <a:prstGeom prst="rect">
            <a:avLst/>
          </a:prstGeom>
          <a:solidFill>
            <a:srgbClr val="F7F9FD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01926A-E109-428D-B854-2BFB53F87277}"/>
              </a:ext>
            </a:extLst>
          </p:cNvPr>
          <p:cNvSpPr>
            <a:spLocks noGrp="1"/>
          </p:cNvSpPr>
          <p:nvPr/>
        </p:nvSpPr>
        <p:spPr>
          <a:xfrm>
            <a:off x="704850" y="352425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Adaptive assessment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7B3BB0-4660-4F44-AF0B-274BD4706159}"/>
              </a:ext>
            </a:extLst>
          </p:cNvPr>
          <p:cNvSpPr>
            <a:spLocks noGrp="1"/>
          </p:cNvSpPr>
          <p:nvPr/>
        </p:nvSpPr>
        <p:spPr>
          <a:xfrm>
            <a:off x="3238500" y="3524250"/>
            <a:ext cx="604837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Scored quizzes, explanations, history, next difficulty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8C9846-3039-4A72-BFDD-B42CE18CAE25}"/>
              </a:ext>
            </a:extLst>
          </p:cNvPr>
          <p:cNvSpPr>
            <a:spLocks noGrp="1"/>
          </p:cNvSpPr>
          <p:nvPr/>
        </p:nvSpPr>
        <p:spPr>
          <a:xfrm>
            <a:off x="9620250" y="352425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803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E2A27C-6BED-4BB9-8658-118FEE9014D9}"/>
              </a:ext>
            </a:extLst>
          </p:cNvPr>
          <p:cNvSpPr>
            <a:spLocks noGrp="1"/>
          </p:cNvSpPr>
          <p:nvPr/>
        </p:nvSpPr>
        <p:spPr>
          <a:xfrm>
            <a:off x="704850" y="415290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Career guidance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727779-8335-4E0C-97C6-8548B77E0AD2}"/>
              </a:ext>
            </a:extLst>
          </p:cNvPr>
          <p:cNvSpPr>
            <a:spLocks noGrp="1"/>
          </p:cNvSpPr>
          <p:nvPr/>
        </p:nvSpPr>
        <p:spPr>
          <a:xfrm>
            <a:off x="3238500" y="4152900"/>
            <a:ext cx="604837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Skill gaps, certifications, interview preparation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8D21B5-32D7-48B9-8FAC-1F9A36D9085A}"/>
              </a:ext>
            </a:extLst>
          </p:cNvPr>
          <p:cNvSpPr>
            <a:spLocks noGrp="1"/>
          </p:cNvSpPr>
          <p:nvPr/>
        </p:nvSpPr>
        <p:spPr>
          <a:xfrm>
            <a:off x="9620250" y="41529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803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9E45FA-BBB8-4D5C-93F3-136E8405269F}"/>
              </a:ext>
            </a:extLst>
          </p:cNvPr>
          <p:cNvSpPr>
            <a:spLocks noGrp="1"/>
          </p:cNvSpPr>
          <p:nvPr/>
        </p:nvSpPr>
        <p:spPr>
          <a:xfrm>
            <a:off x="590550" y="4705350"/>
            <a:ext cx="10906125" cy="552450"/>
          </a:xfrm>
          <a:prstGeom prst="rect">
            <a:avLst/>
          </a:prstGeom>
          <a:solidFill>
            <a:srgbClr val="F7F9FD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CB03AB-63E8-4488-90D9-E2576E936F65}"/>
              </a:ext>
            </a:extLst>
          </p:cNvPr>
          <p:cNvSpPr>
            <a:spLocks noGrp="1"/>
          </p:cNvSpPr>
          <p:nvPr/>
        </p:nvSpPr>
        <p:spPr>
          <a:xfrm>
            <a:off x="704850" y="478155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Projects and progress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CB84C0-429F-4C68-80B5-D1C44AB3B68C}"/>
              </a:ext>
            </a:extLst>
          </p:cNvPr>
          <p:cNvSpPr>
            <a:spLocks noGrp="1"/>
          </p:cNvSpPr>
          <p:nvPr/>
        </p:nvSpPr>
        <p:spPr>
          <a:xfrm>
            <a:off x="3238500" y="4781550"/>
            <a:ext cx="604837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Ranked projects, progress, activity, streaks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2CAE50-B101-40BD-B528-1596D3D1FCAD}"/>
              </a:ext>
            </a:extLst>
          </p:cNvPr>
          <p:cNvSpPr>
            <a:spLocks noGrp="1"/>
          </p:cNvSpPr>
          <p:nvPr/>
        </p:nvSpPr>
        <p:spPr>
          <a:xfrm>
            <a:off x="9620250" y="478155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803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E920D2-1D58-4833-A2FA-E758A2BBA369}"/>
              </a:ext>
            </a:extLst>
          </p:cNvPr>
          <p:cNvSpPr>
            <a:spLocks noGrp="1"/>
          </p:cNvSpPr>
          <p:nvPr/>
        </p:nvSpPr>
        <p:spPr>
          <a:xfrm>
            <a:off x="704850" y="541020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Reminders and updates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796E75-475F-4B92-8FE1-2995E5CFE16D}"/>
              </a:ext>
            </a:extLst>
          </p:cNvPr>
          <p:cNvSpPr>
            <a:spLocks noGrp="1"/>
          </p:cNvSpPr>
          <p:nvPr/>
        </p:nvSpPr>
        <p:spPr>
          <a:xfrm>
            <a:off x="3238500" y="5410200"/>
            <a:ext cx="604837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In-app reminders and curated research records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196A5A-F135-40D9-91A5-71F863C04872}"/>
              </a:ext>
            </a:extLst>
          </p:cNvPr>
          <p:cNvSpPr>
            <a:spLocks noGrp="1"/>
          </p:cNvSpPr>
          <p:nvPr/>
        </p:nvSpPr>
        <p:spPr>
          <a:xfrm>
            <a:off x="9620250" y="54102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B286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8600"/>
                </a:solidFill>
                <a:latin typeface="Aptos"/>
                <a:ea typeface="Aptos"/>
                <a:cs typeface="Aptos"/>
              </a:rPr>
              <a:t>MVP scope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88C1C6-CEA3-45B7-BD54-8657AB9AE29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8A30A2-FE7F-4B14-855D-ED05EEE1E6F5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75210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5F2CFAA-07E8-43EB-8E0E-71D996D4FDF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Agentic system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34977C-B690-4D58-A833-67D78F8DBA9C}"/>
              </a:ext>
            </a:extLst>
          </p:cNvPr>
          <p:cNvSpPr>
            <a:spLocks noGrp="1"/>
          </p:cNvSpPr>
          <p:nvPr/>
        </p:nvSpPr>
        <p:spPr>
          <a:xfrm>
            <a:off x="628650" y="1028700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C8D8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8FF"/>
                </a:solidFill>
                <a:latin typeface="Aptos"/>
                <a:ea typeface="Aptos"/>
                <a:cs typeface="Aptos"/>
              </a:rPr>
              <a:t>One orchestrator selects a specialist and keeps the learner record central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54BC40-D0CA-459F-B356-38864954CF37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0F62F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1C6A11-C7A5-464F-8AA0-F097B5B0A86B}"/>
              </a:ext>
            </a:extLst>
          </p:cNvPr>
          <p:cNvSpPr>
            <a:spLocks noGrp="1"/>
          </p:cNvSpPr>
          <p:nvPr/>
        </p:nvSpPr>
        <p:spPr>
          <a:xfrm>
            <a:off x="1133475" y="2705100"/>
            <a:ext cx="17526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Learner request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8FD9BB-7973-4EF7-AB9D-C67B46B85A26}"/>
              </a:ext>
            </a:extLst>
          </p:cNvPr>
          <p:cNvSpPr>
            <a:spLocks noGrp="1"/>
          </p:cNvSpPr>
          <p:nvPr/>
        </p:nvSpPr>
        <p:spPr>
          <a:xfrm>
            <a:off x="4095750" y="2114550"/>
            <a:ext cx="28575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B0F437-4596-400C-95FE-9B5318DA4CB5}"/>
              </a:ext>
            </a:extLst>
          </p:cNvPr>
          <p:cNvSpPr>
            <a:spLocks noGrp="1"/>
          </p:cNvSpPr>
          <p:nvPr/>
        </p:nvSpPr>
        <p:spPr>
          <a:xfrm>
            <a:off x="4429125" y="2419350"/>
            <a:ext cx="2190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2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Orchestrator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678A5A-8CD7-4A6E-8AB4-7DF910C31444}"/>
              </a:ext>
            </a:extLst>
          </p:cNvPr>
          <p:cNvSpPr>
            <a:spLocks noGrp="1"/>
          </p:cNvSpPr>
          <p:nvPr/>
        </p:nvSpPr>
        <p:spPr>
          <a:xfrm>
            <a:off x="4552950" y="3000375"/>
            <a:ext cx="195262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Intent + profile + retrieved context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8947C4-B7FF-426E-8E2E-8757DE42FF91}"/>
              </a:ext>
            </a:extLst>
          </p:cNvPr>
          <p:cNvSpPr>
            <a:spLocks noGrp="1"/>
          </p:cNvSpPr>
          <p:nvPr/>
        </p:nvSpPr>
        <p:spPr>
          <a:xfrm>
            <a:off x="8096250" y="179070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007D79"/>
          </a:solidFill>
          <a:ln w="9525">
            <a:solidFill>
              <a:srgbClr val="5E78B4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139790-5280-4FBE-804B-422F3FAAD137}"/>
              </a:ext>
            </a:extLst>
          </p:cNvPr>
          <p:cNvSpPr>
            <a:spLocks noGrp="1"/>
          </p:cNvSpPr>
          <p:nvPr/>
        </p:nvSpPr>
        <p:spPr>
          <a:xfrm>
            <a:off x="8191500" y="1981200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Tutor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D4712DE-639B-405E-9A99-78BE571525F4}"/>
              </a:ext>
            </a:extLst>
          </p:cNvPr>
          <p:cNvSpPr>
            <a:spLocks noGrp="1"/>
          </p:cNvSpPr>
          <p:nvPr/>
        </p:nvSpPr>
        <p:spPr>
          <a:xfrm>
            <a:off x="9715500" y="179070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253866"/>
          </a:solidFill>
          <a:ln w="9525">
            <a:solidFill>
              <a:srgbClr val="5E78B4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EA03CC-59B3-40F0-991E-025B03D96A29}"/>
              </a:ext>
            </a:extLst>
          </p:cNvPr>
          <p:cNvSpPr>
            <a:spLocks noGrp="1"/>
          </p:cNvSpPr>
          <p:nvPr/>
        </p:nvSpPr>
        <p:spPr>
          <a:xfrm>
            <a:off x="9810750" y="1981200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Quiz Master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2726652-1EC0-41DF-9AD2-BC5996068849}"/>
              </a:ext>
            </a:extLst>
          </p:cNvPr>
          <p:cNvSpPr>
            <a:spLocks noGrp="1"/>
          </p:cNvSpPr>
          <p:nvPr/>
        </p:nvSpPr>
        <p:spPr>
          <a:xfrm>
            <a:off x="8096250" y="285750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253866"/>
          </a:solidFill>
          <a:ln w="9525">
            <a:solidFill>
              <a:srgbClr val="5E78B4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C351BB-48A3-4C60-930E-A5F2BA337485}"/>
              </a:ext>
            </a:extLst>
          </p:cNvPr>
          <p:cNvSpPr>
            <a:spLocks noGrp="1"/>
          </p:cNvSpPr>
          <p:nvPr/>
        </p:nvSpPr>
        <p:spPr>
          <a:xfrm>
            <a:off x="8191500" y="3048000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Career Coach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6597EF6-D687-414D-8579-EA91C5BCD418}"/>
              </a:ext>
            </a:extLst>
          </p:cNvPr>
          <p:cNvSpPr>
            <a:spLocks noGrp="1"/>
          </p:cNvSpPr>
          <p:nvPr/>
        </p:nvSpPr>
        <p:spPr>
          <a:xfrm>
            <a:off x="9715500" y="285750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253866"/>
          </a:solidFill>
          <a:ln w="9525">
            <a:solidFill>
              <a:srgbClr val="5E78B4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4FF784-EF21-4451-99B9-9FA65925E461}"/>
              </a:ext>
            </a:extLst>
          </p:cNvPr>
          <p:cNvSpPr>
            <a:spLocks noGrp="1"/>
          </p:cNvSpPr>
          <p:nvPr/>
        </p:nvSpPr>
        <p:spPr>
          <a:xfrm>
            <a:off x="9810750" y="3048000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Guide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8C79D6C-8C4B-494E-9F35-0226B1CF1C67}"/>
              </a:ext>
            </a:extLst>
          </p:cNvPr>
          <p:cNvSpPr>
            <a:spLocks noGrp="1"/>
          </p:cNvSpPr>
          <p:nvPr/>
        </p:nvSpPr>
        <p:spPr>
          <a:xfrm>
            <a:off x="8096250" y="392430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253866"/>
          </a:solidFill>
          <a:ln w="9525">
            <a:solidFill>
              <a:srgbClr val="5E78B4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EEF839-67A2-4650-8776-0C9479730B28}"/>
              </a:ext>
            </a:extLst>
          </p:cNvPr>
          <p:cNvSpPr>
            <a:spLocks noGrp="1"/>
          </p:cNvSpPr>
          <p:nvPr/>
        </p:nvSpPr>
        <p:spPr>
          <a:xfrm>
            <a:off x="8191500" y="4114800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Researcher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9E30564-86A9-4A9D-8D9B-697EE76C636D}"/>
              </a:ext>
            </a:extLst>
          </p:cNvPr>
          <p:cNvSpPr>
            <a:spLocks noGrp="1"/>
          </p:cNvSpPr>
          <p:nvPr/>
        </p:nvSpPr>
        <p:spPr>
          <a:xfrm>
            <a:off x="9715500" y="392430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253866"/>
          </a:solidFill>
          <a:ln w="9525">
            <a:solidFill>
              <a:srgbClr val="5E78B4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D0CEC7-B6D8-4623-8249-19C3E0346DA4}"/>
              </a:ext>
            </a:extLst>
          </p:cNvPr>
          <p:cNvSpPr>
            <a:spLocks noGrp="1"/>
          </p:cNvSpPr>
          <p:nvPr/>
        </p:nvSpPr>
        <p:spPr>
          <a:xfrm>
            <a:off x="9810750" y="4114800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Reminder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892893-19B3-4004-A81E-B91C92F4BE79}"/>
              </a:ext>
            </a:extLst>
          </p:cNvPr>
          <p:cNvSpPr>
            <a:spLocks noGrp="1"/>
          </p:cNvSpPr>
          <p:nvPr/>
        </p:nvSpPr>
        <p:spPr>
          <a:xfrm>
            <a:off x="3114675" y="2895600"/>
            <a:ext cx="971550" cy="38100"/>
          </a:xfrm>
          <a:prstGeom prst="rect">
            <a:avLst/>
          </a:prstGeom>
          <a:solidFill>
            <a:srgbClr val="6FA4FF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F6E045-9C65-4130-AAE2-046308B0EC98}"/>
              </a:ext>
            </a:extLst>
          </p:cNvPr>
          <p:cNvSpPr>
            <a:spLocks noGrp="1"/>
          </p:cNvSpPr>
          <p:nvPr/>
        </p:nvSpPr>
        <p:spPr>
          <a:xfrm>
            <a:off x="6962775" y="2895600"/>
            <a:ext cx="1123950" cy="38100"/>
          </a:xfrm>
          <a:prstGeom prst="rect">
            <a:avLst/>
          </a:prstGeom>
          <a:solidFill>
            <a:srgbClr val="6FA4FF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38BACE-19D5-4AB0-82EC-EB2B867D18B0}"/>
              </a:ext>
            </a:extLst>
          </p:cNvPr>
          <p:cNvSpPr>
            <a:spLocks noGrp="1"/>
          </p:cNvSpPr>
          <p:nvPr/>
        </p:nvSpPr>
        <p:spPr>
          <a:xfrm>
            <a:off x="1009650" y="476250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FD4FF"/>
                </a:solidFill>
                <a:latin typeface="Aptos"/>
                <a:ea typeface="Aptos"/>
                <a:cs typeface="Aptos"/>
              </a:rPr>
              <a:t>React interface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AC76B2-6DE6-438D-8F16-9AC2C7E145CE}"/>
              </a:ext>
            </a:extLst>
          </p:cNvPr>
          <p:cNvSpPr>
            <a:spLocks noGrp="1"/>
          </p:cNvSpPr>
          <p:nvPr/>
        </p:nvSpPr>
        <p:spPr>
          <a:xfrm>
            <a:off x="4514850" y="476250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FD4FF"/>
                </a:solidFill>
                <a:latin typeface="Aptos"/>
                <a:ea typeface="Aptos"/>
                <a:cs typeface="Aptos"/>
              </a:rPr>
              <a:t>FastAPI + JWT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AA2D5C-2D8A-49A2-A663-36092D06D101}"/>
              </a:ext>
            </a:extLst>
          </p:cNvPr>
          <p:cNvSpPr>
            <a:spLocks noGrp="1"/>
          </p:cNvSpPr>
          <p:nvPr/>
        </p:nvSpPr>
        <p:spPr>
          <a:xfrm>
            <a:off x="8420100" y="47625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FD4FF"/>
                </a:solidFill>
                <a:latin typeface="Aptos"/>
                <a:ea typeface="Aptos"/>
                <a:cs typeface="Aptos"/>
              </a:rPr>
              <a:t>SQL database + ChromaDB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9D5ACC-EB77-4A0C-B92F-12872275FA4E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CB2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2E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5000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57714AC-32A9-463B-A5C1-B669328CEB6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Personalization uses learner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6BA8FE-7C46-4E62-A4F4-C2F05D0695A7}"/>
              </a:ext>
            </a:extLst>
          </p:cNvPr>
          <p:cNvSpPr>
            <a:spLocks noGrp="1"/>
          </p:cNvSpPr>
          <p:nvPr/>
        </p:nvSpPr>
        <p:spPr>
          <a:xfrm>
            <a:off x="628650" y="10287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Each cycle changes the next recommendation instead of resetting the learner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917191-5136-42B3-9824-0E32DCC0EC7D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781050" cy="47625"/>
          </a:xfrm>
          <a:prstGeom prst="rect">
            <a:avLst/>
          </a:prstGeom>
          <a:solidFill>
            <a:srgbClr val="0F62FE"/>
          </a:solidFill>
          <a:ln w="0">
            <a:noFill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000FDC-5FAA-4076-8359-D18D2D79676E}"/>
              </a:ext>
            </a:extLst>
          </p:cNvPr>
          <p:cNvSpPr>
            <a:spLocks noGrp="1"/>
          </p:cNvSpPr>
          <p:nvPr/>
        </p:nvSpPr>
        <p:spPr>
          <a:xfrm>
            <a:off x="971550" y="2190750"/>
            <a:ext cx="2190750" cy="1219200"/>
          </a:xfrm>
          <a:prstGeom prst="roundRect">
            <a:avLst>
              <a:gd name="adj" fmla="val 6250"/>
            </a:avLst>
          </a:prstGeom>
          <a:solidFill>
            <a:srgbClr val="F7F9FD"/>
          </a:solidFill>
          <a:ln w="9525">
            <a:solidFill>
              <a:srgbClr val="C8D4EA"/>
            </a:solidFill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AD3E40-A48C-4D45-B66A-47EFD6DCB8C4}"/>
              </a:ext>
            </a:extLst>
          </p:cNvPr>
          <p:cNvSpPr>
            <a:spLocks noGrp="1"/>
          </p:cNvSpPr>
          <p:nvPr/>
        </p:nvSpPr>
        <p:spPr>
          <a:xfrm>
            <a:off x="1143000" y="2352675"/>
            <a:ext cx="5143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08F7F5-67C0-40F3-AF6E-0B1F7AC10330}"/>
              </a:ext>
            </a:extLst>
          </p:cNvPr>
          <p:cNvSpPr>
            <a:spLocks noGrp="1"/>
          </p:cNvSpPr>
          <p:nvPr/>
        </p:nvSpPr>
        <p:spPr>
          <a:xfrm>
            <a:off x="1143000" y="2714625"/>
            <a:ext cx="1809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BD7E1-7D2A-4D12-A13A-5B2F382D96B0}"/>
              </a:ext>
            </a:extLst>
          </p:cNvPr>
          <p:cNvSpPr>
            <a:spLocks noGrp="1"/>
          </p:cNvSpPr>
          <p:nvPr/>
        </p:nvSpPr>
        <p:spPr>
          <a:xfrm>
            <a:off x="1143000" y="3124200"/>
            <a:ext cx="18288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Career goal and prior skills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633783-04A6-4368-87C1-7B51F3210C3F}"/>
              </a:ext>
            </a:extLst>
          </p:cNvPr>
          <p:cNvSpPr>
            <a:spLocks noGrp="1"/>
          </p:cNvSpPr>
          <p:nvPr/>
        </p:nvSpPr>
        <p:spPr>
          <a:xfrm>
            <a:off x="3162300" y="2771775"/>
            <a:ext cx="523875" cy="28575"/>
          </a:xfrm>
          <a:prstGeom prst="rect">
            <a:avLst/>
          </a:prstGeom>
          <a:solidFill>
            <a:srgbClr val="007D79"/>
          </a:solidFill>
          <a:ln w="0">
            <a:noFill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7E0B7E-D848-45B2-B31C-CD49B8F55A12}"/>
              </a:ext>
            </a:extLst>
          </p:cNvPr>
          <p:cNvSpPr>
            <a:spLocks noGrp="1"/>
          </p:cNvSpPr>
          <p:nvPr/>
        </p:nvSpPr>
        <p:spPr>
          <a:xfrm>
            <a:off x="3686175" y="2190750"/>
            <a:ext cx="2190750" cy="1219200"/>
          </a:xfrm>
          <a:prstGeom prst="roundRect">
            <a:avLst>
              <a:gd name="adj" fmla="val 6250"/>
            </a:avLst>
          </a:prstGeom>
          <a:solidFill>
            <a:srgbClr val="F7F9FD"/>
          </a:solidFill>
          <a:ln w="9525">
            <a:solidFill>
              <a:srgbClr val="C8D4EA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04C475-7D0B-4A56-B6D8-D8A4B6E4B4AB}"/>
              </a:ext>
            </a:extLst>
          </p:cNvPr>
          <p:cNvSpPr>
            <a:spLocks noGrp="1"/>
          </p:cNvSpPr>
          <p:nvPr/>
        </p:nvSpPr>
        <p:spPr>
          <a:xfrm>
            <a:off x="3857625" y="2352675"/>
            <a:ext cx="5143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24BC4A-96E0-4938-BBA3-DCEFFD9237AB}"/>
              </a:ext>
            </a:extLst>
          </p:cNvPr>
          <p:cNvSpPr>
            <a:spLocks noGrp="1"/>
          </p:cNvSpPr>
          <p:nvPr/>
        </p:nvSpPr>
        <p:spPr>
          <a:xfrm>
            <a:off x="3857625" y="2714625"/>
            <a:ext cx="1809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Measure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8C33ED-5516-4D69-9752-1108FC96D15F}"/>
              </a:ext>
            </a:extLst>
          </p:cNvPr>
          <p:cNvSpPr>
            <a:spLocks noGrp="1"/>
          </p:cNvSpPr>
          <p:nvPr/>
        </p:nvSpPr>
        <p:spPr>
          <a:xfrm>
            <a:off x="3857625" y="3124200"/>
            <a:ext cx="18288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Assessment and quiz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2BB24B-9414-4887-8552-DB02BE96B0A8}"/>
              </a:ext>
            </a:extLst>
          </p:cNvPr>
          <p:cNvSpPr>
            <a:spLocks noGrp="1"/>
          </p:cNvSpPr>
          <p:nvPr/>
        </p:nvSpPr>
        <p:spPr>
          <a:xfrm>
            <a:off x="5876925" y="2771775"/>
            <a:ext cx="523875" cy="28575"/>
          </a:xfrm>
          <a:prstGeom prst="rect">
            <a:avLst/>
          </a:prstGeom>
          <a:solidFill>
            <a:srgbClr val="007D79"/>
          </a:solidFill>
          <a:ln w="0">
            <a:noFill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B8825F-D0B2-4659-B458-A52194D71298}"/>
              </a:ext>
            </a:extLst>
          </p:cNvPr>
          <p:cNvSpPr>
            <a:spLocks noGrp="1"/>
          </p:cNvSpPr>
          <p:nvPr/>
        </p:nvSpPr>
        <p:spPr>
          <a:xfrm>
            <a:off x="6400800" y="2190750"/>
            <a:ext cx="2190750" cy="1219200"/>
          </a:xfrm>
          <a:prstGeom prst="roundRect">
            <a:avLst>
              <a:gd name="adj" fmla="val 6250"/>
            </a:avLst>
          </a:prstGeom>
          <a:solidFill>
            <a:srgbClr val="EEF4FF"/>
          </a:solidFill>
          <a:ln w="9525">
            <a:solidFill>
              <a:srgbClr val="C8D4EA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D973F6-5B32-4B17-9907-5362DDC66977}"/>
              </a:ext>
            </a:extLst>
          </p:cNvPr>
          <p:cNvSpPr>
            <a:spLocks noGrp="1"/>
          </p:cNvSpPr>
          <p:nvPr/>
        </p:nvSpPr>
        <p:spPr>
          <a:xfrm>
            <a:off x="6572250" y="2352675"/>
            <a:ext cx="5143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C38837-4F97-43CB-9049-0F922AAA530A}"/>
              </a:ext>
            </a:extLst>
          </p:cNvPr>
          <p:cNvSpPr>
            <a:spLocks noGrp="1"/>
          </p:cNvSpPr>
          <p:nvPr/>
        </p:nvSpPr>
        <p:spPr>
          <a:xfrm>
            <a:off x="6572250" y="2714625"/>
            <a:ext cx="1809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Adapt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CB61D5-C259-4E96-871F-CAD48F5D0E20}"/>
              </a:ext>
            </a:extLst>
          </p:cNvPr>
          <p:cNvSpPr>
            <a:spLocks noGrp="1"/>
          </p:cNvSpPr>
          <p:nvPr/>
        </p:nvSpPr>
        <p:spPr>
          <a:xfrm>
            <a:off x="6572250" y="3124200"/>
            <a:ext cx="18288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Weak topics and difficulty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DDE769-24B3-4470-820D-0804630A3C0C}"/>
              </a:ext>
            </a:extLst>
          </p:cNvPr>
          <p:cNvSpPr>
            <a:spLocks noGrp="1"/>
          </p:cNvSpPr>
          <p:nvPr/>
        </p:nvSpPr>
        <p:spPr>
          <a:xfrm>
            <a:off x="8591550" y="2771775"/>
            <a:ext cx="523875" cy="28575"/>
          </a:xfrm>
          <a:prstGeom prst="rect">
            <a:avLst/>
          </a:prstGeom>
          <a:solidFill>
            <a:srgbClr val="007D79"/>
          </a:solidFill>
          <a:ln w="0">
            <a:noFill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3C54F38-89CB-4CB9-8167-BF2B69345BB0}"/>
              </a:ext>
            </a:extLst>
          </p:cNvPr>
          <p:cNvSpPr>
            <a:spLocks noGrp="1"/>
          </p:cNvSpPr>
          <p:nvPr/>
        </p:nvSpPr>
        <p:spPr>
          <a:xfrm>
            <a:off x="9115425" y="2190750"/>
            <a:ext cx="2190750" cy="1219200"/>
          </a:xfrm>
          <a:prstGeom prst="roundRect">
            <a:avLst>
              <a:gd name="adj" fmla="val 6250"/>
            </a:avLst>
          </a:prstGeom>
          <a:solidFill>
            <a:srgbClr val="F7F9FD"/>
          </a:solidFill>
          <a:ln w="9525">
            <a:solidFill>
              <a:srgbClr val="C8D4EA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92D02E-99AA-4051-AB94-3B62802DCC77}"/>
              </a:ext>
            </a:extLst>
          </p:cNvPr>
          <p:cNvSpPr>
            <a:spLocks noGrp="1"/>
          </p:cNvSpPr>
          <p:nvPr/>
        </p:nvSpPr>
        <p:spPr>
          <a:xfrm>
            <a:off x="9286875" y="2352675"/>
            <a:ext cx="5143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83FA34-DF87-4EE3-AA18-6ED2A7C96918}"/>
              </a:ext>
            </a:extLst>
          </p:cNvPr>
          <p:cNvSpPr>
            <a:spLocks noGrp="1"/>
          </p:cNvSpPr>
          <p:nvPr/>
        </p:nvSpPr>
        <p:spPr>
          <a:xfrm>
            <a:off x="9286875" y="2714625"/>
            <a:ext cx="1809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Guide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4F3BA4-5979-4606-87CF-4A35CB96BFB6}"/>
              </a:ext>
            </a:extLst>
          </p:cNvPr>
          <p:cNvSpPr>
            <a:spLocks noGrp="1"/>
          </p:cNvSpPr>
          <p:nvPr/>
        </p:nvSpPr>
        <p:spPr>
          <a:xfrm>
            <a:off x="9286875" y="3124200"/>
            <a:ext cx="18288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Roadmap and project priority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2D3237-4361-4373-83AA-9C74ABABABDC}"/>
              </a:ext>
            </a:extLst>
          </p:cNvPr>
          <p:cNvSpPr>
            <a:spLocks noGrp="1"/>
          </p:cNvSpPr>
          <p:nvPr/>
        </p:nvSpPr>
        <p:spPr>
          <a:xfrm>
            <a:off x="2038350" y="4333875"/>
            <a:ext cx="809625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1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033"/>
                </a:solidFill>
                <a:latin typeface="Aptos"/>
                <a:ea typeface="Aptos"/>
                <a:cs typeface="Aptos"/>
              </a:rPr>
              <a:t>The backend owns scores, unlocking, progress, and history. This prevents the interface from fabricating learner state.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9C4FAD-65A3-49E7-AFC3-6AEE893640E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A924E1-426B-430B-8C81-28C8A8522E2E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1521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2B4A7BC-87E0-4B5D-9579-B9F1A09F475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Lean Canvas summary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BE5D96-9281-4447-A20D-EB37D76F08BC}"/>
              </a:ext>
            </a:extLst>
          </p:cNvPr>
          <p:cNvSpPr>
            <a:spLocks noGrp="1"/>
          </p:cNvSpPr>
          <p:nvPr/>
        </p:nvSpPr>
        <p:spPr>
          <a:xfrm>
            <a:off x="628650" y="10287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The project can start as a student pilot and expand only after learning outcomes are validated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16258B-434D-4126-87B3-0972C32BD24F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781050" cy="47625"/>
          </a:xfrm>
          <a:prstGeom prst="rect">
            <a:avLst/>
          </a:prstGeom>
          <a:solidFill>
            <a:srgbClr val="0F62F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0BC59-20DD-4026-B04F-D9F246B9591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5DFE86-339A-46FE-9E16-DDF02472EC3F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3190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Scattered resources, static paths, weak accountability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80EBD-1C5F-4300-9010-A470FA968043}"/>
              </a:ext>
            </a:extLst>
          </p:cNvPr>
          <p:cNvSpPr>
            <a:spLocks noGrp="1"/>
          </p:cNvSpPr>
          <p:nvPr/>
        </p:nvSpPr>
        <p:spPr>
          <a:xfrm>
            <a:off x="4038600" y="1809750"/>
            <a:ext cx="9525" cy="1000125"/>
          </a:xfrm>
          <a:prstGeom prst="rect">
            <a:avLst/>
          </a:prstGeom>
          <a:solidFill>
            <a:srgbClr val="C8D4EA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4756E5-13DA-4E5D-BF06-7187C0544FAF}"/>
              </a:ext>
            </a:extLst>
          </p:cNvPr>
          <p:cNvSpPr>
            <a:spLocks noGrp="1"/>
          </p:cNvSpPr>
          <p:nvPr/>
        </p:nvSpPr>
        <p:spPr>
          <a:xfrm>
            <a:off x="4495800" y="18097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ACBFF3-BA09-4D37-A806-330F8D36C69A}"/>
              </a:ext>
            </a:extLst>
          </p:cNvPr>
          <p:cNvSpPr>
            <a:spLocks noGrp="1"/>
          </p:cNvSpPr>
          <p:nvPr/>
        </p:nvSpPr>
        <p:spPr>
          <a:xfrm>
            <a:off x="4495800" y="2190750"/>
            <a:ext cx="3190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College students, AI learners, institutions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247F3A-14A3-4451-B6C8-AE4167E2E9F3}"/>
              </a:ext>
            </a:extLst>
          </p:cNvPr>
          <p:cNvSpPr>
            <a:spLocks noGrp="1"/>
          </p:cNvSpPr>
          <p:nvPr/>
        </p:nvSpPr>
        <p:spPr>
          <a:xfrm>
            <a:off x="7848600" y="1809750"/>
            <a:ext cx="9525" cy="1000125"/>
          </a:xfrm>
          <a:prstGeom prst="rect">
            <a:avLst/>
          </a:prstGeom>
          <a:solidFill>
            <a:srgbClr val="C8D4EA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075C19-B2EF-49B7-A4CC-C3511EBDB5C8}"/>
              </a:ext>
            </a:extLst>
          </p:cNvPr>
          <p:cNvSpPr>
            <a:spLocks noGrp="1"/>
          </p:cNvSpPr>
          <p:nvPr/>
        </p:nvSpPr>
        <p:spPr>
          <a:xfrm>
            <a:off x="8305800" y="18097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161E36-47D9-4086-B17D-1E179F18DB6D}"/>
              </a:ext>
            </a:extLst>
          </p:cNvPr>
          <p:cNvSpPr>
            <a:spLocks noGrp="1"/>
          </p:cNvSpPr>
          <p:nvPr/>
        </p:nvSpPr>
        <p:spPr>
          <a:xfrm>
            <a:off x="8305800" y="2190750"/>
            <a:ext cx="3190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One evidence trail across learning and career preparation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D167F4-CEB1-473E-A091-D90BCEF8761B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286A6C-62AD-4B04-B0C8-B08233E3C815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3190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Roadmaps, tutor, adaptive quizzes, projects, reminders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A9DBAB-A20A-41CF-8298-C1C517D6AB80}"/>
              </a:ext>
            </a:extLst>
          </p:cNvPr>
          <p:cNvSpPr>
            <a:spLocks noGrp="1"/>
          </p:cNvSpPr>
          <p:nvPr/>
        </p:nvSpPr>
        <p:spPr>
          <a:xfrm>
            <a:off x="4038600" y="3190875"/>
            <a:ext cx="9525" cy="1000125"/>
          </a:xfrm>
          <a:prstGeom prst="rect">
            <a:avLst/>
          </a:prstGeom>
          <a:solidFill>
            <a:srgbClr val="C8D4EA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0387AD-D1F6-48AE-95CE-20FC6D91C889}"/>
              </a:ext>
            </a:extLst>
          </p:cNvPr>
          <p:cNvSpPr>
            <a:spLocks noGrp="1"/>
          </p:cNvSpPr>
          <p:nvPr/>
        </p:nvSpPr>
        <p:spPr>
          <a:xfrm>
            <a:off x="4495800" y="3190875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BF7595-9637-4889-8858-BA94EA1F21FF}"/>
              </a:ext>
            </a:extLst>
          </p:cNvPr>
          <p:cNvSpPr>
            <a:spLocks noGrp="1"/>
          </p:cNvSpPr>
          <p:nvPr/>
        </p:nvSpPr>
        <p:spPr>
          <a:xfrm>
            <a:off x="4495800" y="3571875"/>
            <a:ext cx="3190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College pilots, SkillsBuild communities, web app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1B8A0A-3F12-4648-ABB6-A742917186C0}"/>
              </a:ext>
            </a:extLst>
          </p:cNvPr>
          <p:cNvSpPr>
            <a:spLocks noGrp="1"/>
          </p:cNvSpPr>
          <p:nvPr/>
        </p:nvSpPr>
        <p:spPr>
          <a:xfrm>
            <a:off x="7848600" y="3190875"/>
            <a:ext cx="9525" cy="1000125"/>
          </a:xfrm>
          <a:prstGeom prst="rect">
            <a:avLst/>
          </a:prstGeom>
          <a:solidFill>
            <a:srgbClr val="C8D4EA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AEDBAE-4D7C-45BE-9048-6BDB49519A72}"/>
              </a:ext>
            </a:extLst>
          </p:cNvPr>
          <p:cNvSpPr>
            <a:spLocks noGrp="1"/>
          </p:cNvSpPr>
          <p:nvPr/>
        </p:nvSpPr>
        <p:spPr>
          <a:xfrm>
            <a:off x="8305800" y="3190875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35AAF0-AEA0-4D51-908B-C7A4E0CFE8FD}"/>
              </a:ext>
            </a:extLst>
          </p:cNvPr>
          <p:cNvSpPr>
            <a:spLocks noGrp="1"/>
          </p:cNvSpPr>
          <p:nvPr/>
        </p:nvSpPr>
        <p:spPr>
          <a:xfrm>
            <a:off x="8305800" y="3571875"/>
            <a:ext cx="3190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Completion, quiz improvement, active days, projects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77AD7B-43A4-4A28-AE7E-93EA4B283FD2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Costs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26663D-7391-4EE1-BCA9-F4226A8F27AE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3190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Models, storage, hosting, validation, product support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E3CD8F-BECD-4FE2-BBF3-8BF109CC1168}"/>
              </a:ext>
            </a:extLst>
          </p:cNvPr>
          <p:cNvSpPr>
            <a:spLocks noGrp="1"/>
          </p:cNvSpPr>
          <p:nvPr/>
        </p:nvSpPr>
        <p:spPr>
          <a:xfrm>
            <a:off x="4038600" y="4572000"/>
            <a:ext cx="9525" cy="1000125"/>
          </a:xfrm>
          <a:prstGeom prst="rect">
            <a:avLst/>
          </a:prstGeom>
          <a:solidFill>
            <a:srgbClr val="C8D4EA"/>
          </a:solidFill>
          <a:ln w="0"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CD9F77-9968-49E8-A765-A9C221D7729F}"/>
              </a:ext>
            </a:extLst>
          </p:cNvPr>
          <p:cNvSpPr>
            <a:spLocks noGrp="1"/>
          </p:cNvSpPr>
          <p:nvPr/>
        </p:nvSpPr>
        <p:spPr>
          <a:xfrm>
            <a:off x="4495800" y="457200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Revenue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18B71E-43FC-4194-8A38-26EA7F0906DA}"/>
              </a:ext>
            </a:extLst>
          </p:cNvPr>
          <p:cNvSpPr>
            <a:spLocks noGrp="1"/>
          </p:cNvSpPr>
          <p:nvPr/>
        </p:nvSpPr>
        <p:spPr>
          <a:xfrm>
            <a:off x="4495800" y="4953000"/>
            <a:ext cx="3190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Freemium, premium mentor, institutional licenses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A9BE5B-DC07-4834-8CB7-4457FA6CFACC}"/>
              </a:ext>
            </a:extLst>
          </p:cNvPr>
          <p:cNvSpPr>
            <a:spLocks noGrp="1"/>
          </p:cNvSpPr>
          <p:nvPr/>
        </p:nvSpPr>
        <p:spPr>
          <a:xfrm>
            <a:off x="7848600" y="4572000"/>
            <a:ext cx="9525" cy="1000125"/>
          </a:xfrm>
          <a:prstGeom prst="rect">
            <a:avLst/>
          </a:prstGeom>
          <a:solidFill>
            <a:srgbClr val="C8D4EA"/>
          </a:solidFill>
          <a:ln w="0">
            <a:noFill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522EAC-0C5F-4231-A5B7-03AAE0167CF9}"/>
              </a:ext>
            </a:extLst>
          </p:cNvPr>
          <p:cNvSpPr>
            <a:spLocks noGrp="1"/>
          </p:cNvSpPr>
          <p:nvPr/>
        </p:nvSpPr>
        <p:spPr>
          <a:xfrm>
            <a:off x="8305800" y="457200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Advantage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5610BF-69AD-4340-800C-554DF2ACA91C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3190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Working agentic MVP with grounded local retrieval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E3D304-582C-41E6-AF4D-C4DE0F7D9BA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96875A5-5FD1-4327-B379-879270BCC693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8995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96C22DF-20DF-486C-BD00-EC9F925A9B0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Prototype validation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86E0A8-4F92-484B-838E-B1BA0F0D71AC}"/>
              </a:ext>
            </a:extLst>
          </p:cNvPr>
          <p:cNvSpPr>
            <a:spLocks noGrp="1"/>
          </p:cNvSpPr>
          <p:nvPr/>
        </p:nvSpPr>
        <p:spPr>
          <a:xfrm>
            <a:off x="628650" y="10287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Automated and browser checks cover the complete local learner journey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ED752B-0233-46DB-8ED0-B3F24F909E97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781050" cy="47625"/>
          </a:xfrm>
          <a:prstGeom prst="rect">
            <a:avLst/>
          </a:prstGeom>
          <a:solidFill>
            <a:srgbClr val="0F62FE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E605B4-E885-4C61-BA7A-F0BB8EC846E0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171450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5700" b="1">
                <a:solidFill>
                  <a:srgbClr val="0F62FE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>
                <a:solidFill>
                  <a:srgbClr val="0F62FE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C6AD13-94CE-4313-B6D3-346EA0BD1193}"/>
              </a:ext>
            </a:extLst>
          </p:cNvPr>
          <p:cNvSpPr>
            <a:spLocks noGrp="1"/>
          </p:cNvSpPr>
          <p:nvPr/>
        </p:nvSpPr>
        <p:spPr>
          <a:xfrm>
            <a:off x="800100" y="2895600"/>
            <a:ext cx="1857375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backend tests passed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47A5CA-429D-4417-8F46-959F85751D79}"/>
              </a:ext>
            </a:extLst>
          </p:cNvPr>
          <p:cNvSpPr>
            <a:spLocks noGrp="1"/>
          </p:cNvSpPr>
          <p:nvPr/>
        </p:nvSpPr>
        <p:spPr>
          <a:xfrm>
            <a:off x="3314700" y="1952625"/>
            <a:ext cx="171450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5700" b="1">
                <a:solidFill>
                  <a:srgbClr val="007D79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>
                <a:solidFill>
                  <a:srgbClr val="007D79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EAD918-778C-4110-B15C-A27765B00132}"/>
              </a:ext>
            </a:extLst>
          </p:cNvPr>
          <p:cNvSpPr>
            <a:spLocks noGrp="1"/>
          </p:cNvSpPr>
          <p:nvPr/>
        </p:nvSpPr>
        <p:spPr>
          <a:xfrm>
            <a:off x="3124200" y="2895600"/>
            <a:ext cx="2095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frontend unit tests passed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DA923B-B176-42F2-A84B-561B0443F228}"/>
              </a:ext>
            </a:extLst>
          </p:cNvPr>
          <p:cNvSpPr>
            <a:spLocks noGrp="1"/>
          </p:cNvSpPr>
          <p:nvPr/>
        </p:nvSpPr>
        <p:spPr>
          <a:xfrm>
            <a:off x="5886450" y="1847850"/>
            <a:ext cx="19050" cy="1809750"/>
          </a:xfrm>
          <a:prstGeom prst="rect">
            <a:avLst/>
          </a:prstGeom>
          <a:solidFill>
            <a:srgbClr val="C8D4EA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0DAAEB-E900-465A-8F3D-26C0BE184261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4762500" cy="2381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82033"/>
                </a:solidFill>
                <a:latin typeface="Aptos"/>
                <a:ea typeface="Aptos"/>
                <a:cs typeface="Aptos"/>
              </a:rPr>
              <a:t>Lint, TypeScript, and production build passed</a:t>
            </a:r>
          </a:p>
          <a:p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82033"/>
                </a:solidFill>
                <a:latin typeface="Aptos"/>
                <a:ea typeface="Aptos"/>
                <a:cs typeface="Aptos"/>
              </a:rPr>
              <a:t>Authenticated API smoke test passed</a:t>
            </a:r>
          </a:p>
          <a:p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82033"/>
                </a:solidFill>
                <a:latin typeface="Aptos"/>
                <a:ea typeface="Aptos"/>
                <a:cs typeface="Aptos"/>
              </a:rPr>
              <a:t>Grounded Tutor retrieval passed</a:t>
            </a:r>
          </a:p>
          <a:p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82033"/>
                </a:solidFill>
                <a:latin typeface="Aptos"/>
                <a:ea typeface="Aptos"/>
                <a:cs typeface="Aptos"/>
              </a:rPr>
              <a:t>Browser login, dashboard, and mentor flow verified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3ABD4C-52D2-42BC-B972-5DC517885E9A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10382250" cy="9525"/>
          </a:xfrm>
          <a:prstGeom prst="rect">
            <a:avLst/>
          </a:prstGeom>
          <a:solidFill>
            <a:srgbClr val="C8D4EA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D565E9-41DD-4417-A0F9-A075E8AB2530}"/>
              </a:ext>
            </a:extLst>
          </p:cNvPr>
          <p:cNvSpPr>
            <a:spLocks noGrp="1"/>
          </p:cNvSpPr>
          <p:nvPr/>
        </p:nvSpPr>
        <p:spPr>
          <a:xfrm>
            <a:off x="800100" y="4476750"/>
            <a:ext cx="15240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Demo path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6A6605-08A1-41E8-BB6E-901600B0E5A6}"/>
              </a:ext>
            </a:extLst>
          </p:cNvPr>
          <p:cNvSpPr>
            <a:spLocks noGrp="1"/>
          </p:cNvSpPr>
          <p:nvPr/>
        </p:nvSpPr>
        <p:spPr>
          <a:xfrm>
            <a:off x="2286000" y="4476750"/>
            <a:ext cx="84772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Login   Assessment   Roadmap   Ask Tutor   Adaptive Quiz   Career and Projects   Progress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674056-F5AB-4757-AD15-BCB9E6B3D4B3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8001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The demo provider keeps every core flow available offline. Live model mode remains optional.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280E10-EC9A-49C0-A0B9-BD8BD98DCAA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83AA14-A495-4C0C-9DDF-673A74511E65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0592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E683D7F-81FF-4D05-AA1A-C93BBA0502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Impact measures and responsible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2BA7AB-90B8-4D17-B3EA-4FD214099168}"/>
              </a:ext>
            </a:extLst>
          </p:cNvPr>
          <p:cNvSpPr>
            <a:spLocks noGrp="1"/>
          </p:cNvSpPr>
          <p:nvPr/>
        </p:nvSpPr>
        <p:spPr>
          <a:xfrm>
            <a:off x="628650" y="1028700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C8D8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8FF"/>
                </a:solidFill>
                <a:latin typeface="Aptos"/>
                <a:ea typeface="Aptos"/>
                <a:cs typeface="Aptos"/>
              </a:rPr>
              <a:t>A pilot should measure learning outcomes before expanding delivery channels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271136-9ECE-4575-8E3D-F0230D754791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8DB5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DB5FF"/>
                </a:solidFill>
                <a:latin typeface="Aptos"/>
                <a:ea typeface="Aptos"/>
                <a:cs typeface="Aptos"/>
              </a:rPr>
              <a:t>Pilot measures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F2F1F3-412F-499A-BDC7-D31E8C6E7B04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4572000" cy="2381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41300" indent="-1143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FFFFFF"/>
                </a:solidFill>
                <a:latin typeface="Aptos"/>
                <a:ea typeface="Aptos"/>
                <a:cs typeface="Aptos"/>
              </a:rPr>
              <a:t>Roadmap completion by learner</a:t>
            </a:r>
          </a:p>
          <a:p>
            <a:pPr marL="241300" indent="-1143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FFFFFF"/>
                </a:solidFill>
                <a:latin typeface="Aptos"/>
                <a:ea typeface="Aptos"/>
                <a:cs typeface="Aptos"/>
              </a:rPr>
              <a:t>Quiz improvement by topic</a:t>
            </a:r>
          </a:p>
          <a:p>
            <a:pPr marL="241300" indent="-1143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Active learning days and streaks</a:t>
            </a:r>
          </a:p>
          <a:p>
            <a:pPr marL="241300" indent="-1143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progress and learner feedback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715B2-2F32-4A39-871E-03646A1976E0}"/>
              </a:ext>
            </a:extLst>
          </p:cNvPr>
          <p:cNvSpPr>
            <a:spLocks noGrp="1"/>
          </p:cNvSpPr>
          <p:nvPr/>
        </p:nvSpPr>
        <p:spPr>
          <a:xfrm>
            <a:off x="5924550" y="1762125"/>
            <a:ext cx="19050" cy="3524250"/>
          </a:xfrm>
          <a:prstGeom prst="rect">
            <a:avLst/>
          </a:prstGeom>
          <a:solidFill>
            <a:srgbClr val="49608D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CE5206-23C8-4BF4-BB0D-260086C6A62B}"/>
              </a:ext>
            </a:extLst>
          </p:cNvPr>
          <p:cNvSpPr>
            <a:spLocks noGrp="1"/>
          </p:cNvSpPr>
          <p:nvPr/>
        </p:nvSpPr>
        <p:spPr>
          <a:xfrm>
            <a:off x="6572250" y="1809750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42BE6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2BE65"/>
                </a:solidFill>
                <a:latin typeface="Aptos"/>
                <a:ea typeface="Aptos"/>
                <a:cs typeface="Aptos"/>
              </a:rPr>
              <a:t>Current boundaries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2058A5-91E6-4DD8-B5F4-E74060DFEA67}"/>
              </a:ext>
            </a:extLst>
          </p:cNvPr>
          <p:cNvSpPr>
            <a:spLocks noGrp="1"/>
          </p:cNvSpPr>
          <p:nvPr/>
        </p:nvSpPr>
        <p:spPr>
          <a:xfrm>
            <a:off x="6572250" y="2381250"/>
            <a:ext cx="4619625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41300" indent="-114300">
              <a:spcAft>
                <a:spcPts val="1100"/>
              </a:spcAft>
              <a:buChar char="•"/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updates are curated, not live crawled</a:t>
            </a:r>
          </a:p>
          <a:p>
            <a:pPr marL="241300" indent="-114300">
              <a:spcAft>
                <a:spcPts val="1100"/>
              </a:spcAft>
              <a:buChar char="•"/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FFFFF"/>
                </a:solidFill>
                <a:latin typeface="Aptos"/>
                <a:ea typeface="Aptos"/>
                <a:cs typeface="Aptos"/>
              </a:rPr>
              <a:t>Reminders stay inside the application</a:t>
            </a:r>
          </a:p>
          <a:p>
            <a:pPr marL="241300" indent="-114300">
              <a:spcAft>
                <a:spcPts val="1100"/>
              </a:spcAft>
              <a:buChar char="•"/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model mode requires a configured key and evaluation</a:t>
            </a:r>
          </a:p>
          <a:p>
            <a:pPr marL="241300" indent="-114300">
              <a:spcAft>
                <a:spcPts val="1100"/>
              </a:spcAft>
              <a:buChar char="•"/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FFFFF"/>
                </a:solidFill>
                <a:latin typeface="Aptos"/>
                <a:ea typeface="Aptos"/>
                <a:cs typeface="Aptos"/>
              </a:rPr>
              <a:t>Mobile, LMS, payments, and marketplaces remain future 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40436A-AFDF-404D-837C-A826D890D4D9}"/>
              </a:ext>
            </a:extLst>
          </p:cNvPr>
          <p:cNvSpPr>
            <a:spLocks noGrp="1"/>
          </p:cNvSpPr>
          <p:nvPr/>
        </p:nvSpPr>
        <p:spPr>
          <a:xfrm>
            <a:off x="752475" y="581025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FD4FF"/>
                </a:solidFill>
                <a:latin typeface="Aptos"/>
                <a:ea typeface="Aptos"/>
                <a:cs typeface="Aptos"/>
              </a:rPr>
              <a:t>Mentora AI is an internship project, not an official IBM product.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D03349-C5C0-4BB1-B258-9AC9B2B15903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CB2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2E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90802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539AAB-C72B-4926-9F0E-DD2A2FF91862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10668000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2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Mentora AI demonstrates the complete local learning loop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050249-82D8-4A9C-8910-F8773D1932FB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990600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A student can move from career goal to assessment, roadmap, grounded support, adaptive practice, project evidence, and measurable progress in one application.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250250-3D46-4970-B48B-DA13F8E68018}"/>
              </a:ext>
            </a:extLst>
          </p:cNvPr>
          <p:cNvSpPr>
            <a:spLocks noGrp="1"/>
          </p:cNvSpPr>
          <p:nvPr/>
        </p:nvSpPr>
        <p:spPr>
          <a:xfrm>
            <a:off x="762000" y="3781425"/>
            <a:ext cx="9906000" cy="19050"/>
          </a:xfrm>
          <a:prstGeom prst="rect">
            <a:avLst/>
          </a:prstGeom>
          <a:solidFill>
            <a:srgbClr val="C8D4EA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AC6F94-E805-40E6-892E-7C5C29B0B7BA}"/>
              </a:ext>
            </a:extLst>
          </p:cNvPr>
          <p:cNvSpPr>
            <a:spLocks noGrp="1"/>
          </p:cNvSpPr>
          <p:nvPr/>
        </p:nvSpPr>
        <p:spPr>
          <a:xfrm>
            <a:off x="762000" y="417195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Next stage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583A9-6B03-4E7C-B6BC-13C0C7A5A756}"/>
              </a:ext>
            </a:extLst>
          </p:cNvPr>
          <p:cNvSpPr>
            <a:spLocks noGrp="1"/>
          </p:cNvSpPr>
          <p:nvPr/>
        </p:nvSpPr>
        <p:spPr>
          <a:xfrm>
            <a:off x="2590800" y="4171950"/>
            <a:ext cx="800100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Run a small student pilot, evaluate learning outcomes, and harden the platform before adding external messaging or institutional integrations.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C53E5B-5479-48C3-A25C-899588349A2C}"/>
              </a:ext>
            </a:extLst>
          </p:cNvPr>
          <p:cNvSpPr>
            <a:spLocks noGrp="1"/>
          </p:cNvSpPr>
          <p:nvPr/>
        </p:nvSpPr>
        <p:spPr>
          <a:xfrm>
            <a:off x="762000" y="5695950"/>
            <a:ext cx="3238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007D7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7D79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C1B7B1-BFCF-4586-BBB3-390F09E5CDFD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664190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999</Words>
  <Application>Microsoft Office PowerPoint</Application>
  <DocSecurity>0</DocSecurity>
  <PresentationFormat>Widescreen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Ragav K</cp:lastModifiedBy>
  <cp:revision>1</cp:revision>
  <dcterms:created xsi:type="dcterms:W3CDTF">2026-10-08T09:47:29Z</dcterms:created>
  <dcterms:modified xsi:type="dcterms:W3CDTF">2026-10-09T03:38:08Z</dcterms:modified>
</cp:coreProperties>
</file>